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1" r:id="rId2"/>
    <p:sldId id="256" r:id="rId3"/>
    <p:sldId id="257" r:id="rId4"/>
    <p:sldId id="258" r:id="rId5"/>
    <p:sldId id="261" r:id="rId6"/>
    <p:sldId id="262" r:id="rId7"/>
    <p:sldId id="259" r:id="rId8"/>
    <p:sldId id="272" r:id="rId9"/>
    <p:sldId id="260" r:id="rId10"/>
    <p:sldId id="267" r:id="rId11"/>
    <p:sldId id="264" r:id="rId12"/>
    <p:sldId id="265" r:id="rId13"/>
    <p:sldId id="268" r:id="rId14"/>
    <p:sldId id="263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BA907A-EB05-564B-9453-5A7B9F670697}" v="21" dt="2026-05-24T21:44:24.2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3618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208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7045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d-find.vercel.app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d-find.vercel.app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itle"/>
          <p:cNvSpPr/>
          <p:nvPr/>
        </p:nvSpPr>
        <p:spPr>
          <a:xfrm>
            <a:off x="640080" y="1346621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 Travel to                      1 Year Ago</a:t>
            </a:r>
            <a:endParaRPr lang="en-US" sz="2800" i="1" dirty="0"/>
          </a:p>
        </p:txBody>
      </p:sp>
      <p:pic>
        <p:nvPicPr>
          <p:cNvPr id="1026" name="Picture 2" descr="A Scientist Claims He's Solved a Major Time-Travel Paradox">
            <a:extLst>
              <a:ext uri="{FF2B5EF4-FFF2-40B4-BE49-F238E27FC236}">
                <a16:creationId xmlns:a16="http://schemas.microsoft.com/office/drawing/2014/main" id="{14891761-2D3B-5331-0A51-00B41D046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57600" y="64008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Card1Bg"/>
          <p:cNvSpPr/>
          <p:nvPr/>
        </p:nvSpPr>
        <p:spPr>
          <a:xfrm>
            <a:off x="365760" y="265176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12700">
            <a:solidFill>
              <a:srgbClr val="0891B2">
                <a:alpha val="30000"/>
              </a:srgbClr>
            </a:solidFill>
          </a:ln>
        </p:spPr>
      </p:sp>
      <p:sp>
        <p:nvSpPr>
          <p:cNvPr id="4" name="Card1Num"/>
          <p:cNvSpPr/>
          <p:nvPr/>
        </p:nvSpPr>
        <p:spPr>
          <a:xfrm>
            <a:off x="457200" y="2697480"/>
            <a:ext cx="365760" cy="36576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" name="Card1Text"/>
          <p:cNvSpPr/>
          <p:nvPr/>
        </p:nvSpPr>
        <p:spPr>
          <a:xfrm>
            <a:off x="91440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</a:rPr>
              <a:t>Willing to join a Master’s Programs</a:t>
            </a:r>
          </a:p>
        </p:txBody>
      </p:sp>
      <p:sp>
        <p:nvSpPr>
          <p:cNvPr id="101" name="Card4Bg"/>
          <p:cNvSpPr/>
          <p:nvPr/>
        </p:nvSpPr>
        <p:spPr>
          <a:xfrm>
            <a:off x="4846320" y="265176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12700">
            <a:solidFill>
              <a:srgbClr val="0891B2">
                <a:alpha val="30000"/>
              </a:srgbClr>
            </a:solidFill>
          </a:ln>
        </p:spPr>
      </p:sp>
      <p:sp>
        <p:nvSpPr>
          <p:cNvPr id="7" name="Card4Num"/>
          <p:cNvSpPr/>
          <p:nvPr/>
        </p:nvSpPr>
        <p:spPr>
          <a:xfrm>
            <a:off x="4937760" y="2697480"/>
            <a:ext cx="365760" cy="36576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8" name="Card4Text"/>
          <p:cNvSpPr/>
          <p:nvPr/>
        </p:nvSpPr>
        <p:spPr>
          <a:xfrm>
            <a:off x="539496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</a:rPr>
              <a:t>Trying to find an Education Consultant</a:t>
            </a:r>
          </a:p>
          <a:p>
            <a:pPr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</a:rPr>
              <a:t>Multiple meetings to identify the right advisor</a:t>
            </a:r>
          </a:p>
        </p:txBody>
      </p:sp>
      <p:sp>
        <p:nvSpPr>
          <p:cNvPr id="102" name="Card2Bg"/>
          <p:cNvSpPr/>
          <p:nvPr/>
        </p:nvSpPr>
        <p:spPr>
          <a:xfrm>
            <a:off x="365760" y="333756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12700">
            <a:solidFill>
              <a:srgbClr val="0891B2">
                <a:alpha val="30000"/>
              </a:srgbClr>
            </a:solidFill>
          </a:ln>
        </p:spPr>
      </p:sp>
      <p:sp>
        <p:nvSpPr>
          <p:cNvPr id="6" name="Card2Num"/>
          <p:cNvSpPr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10" name="Card2Text"/>
          <p:cNvSpPr/>
          <p:nvPr/>
        </p:nvSpPr>
        <p:spPr>
          <a:xfrm>
            <a:off x="914400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</a:rPr>
              <a:t>Navigating University Websites</a:t>
            </a:r>
          </a:p>
          <a:p>
            <a:pPr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</a:rPr>
              <a:t>Browsing fragmented information with no central source</a:t>
            </a:r>
          </a:p>
        </p:txBody>
      </p:sp>
      <p:sp>
        <p:nvSpPr>
          <p:cNvPr id="103" name="Card5Bg"/>
          <p:cNvSpPr/>
          <p:nvPr/>
        </p:nvSpPr>
        <p:spPr>
          <a:xfrm>
            <a:off x="4846320" y="333756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12700">
            <a:solidFill>
              <a:srgbClr val="0891B2">
                <a:alpha val="30000"/>
              </a:srgbClr>
            </a:solidFill>
          </a:ln>
        </p:spPr>
      </p:sp>
      <p:sp>
        <p:nvSpPr>
          <p:cNvPr id="11" name="Card5Num"/>
          <p:cNvSpPr/>
          <p:nvPr/>
        </p:nvSpPr>
        <p:spPr>
          <a:xfrm>
            <a:off x="4937760" y="3383280"/>
            <a:ext cx="365760" cy="36576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12" name="Card5Text"/>
          <p:cNvSpPr/>
          <p:nvPr/>
        </p:nvSpPr>
        <p:spPr>
          <a:xfrm>
            <a:off x="5394960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</a:rPr>
              <a:t>Selecting and Starting the Process</a:t>
            </a:r>
          </a:p>
          <a:p>
            <a:pPr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</a:rPr>
              <a:t>Choosing one agency and committing blindly</a:t>
            </a:r>
          </a:p>
        </p:txBody>
      </p:sp>
      <p:sp>
        <p:nvSpPr>
          <p:cNvPr id="104" name="Card3Bg"/>
          <p:cNvSpPr/>
          <p:nvPr/>
        </p:nvSpPr>
        <p:spPr>
          <a:xfrm>
            <a:off x="365760" y="402336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12700">
            <a:solidFill>
              <a:srgbClr val="0891B2">
                <a:alpha val="30000"/>
              </a:srgbClr>
            </a:solidFill>
          </a:ln>
        </p:spPr>
      </p:sp>
      <p:sp>
        <p:nvSpPr>
          <p:cNvPr id="13" name="Card3Num"/>
          <p:cNvSpPr/>
          <p:nvPr/>
        </p:nvSpPr>
        <p:spPr>
          <a:xfrm>
            <a:off x="457200" y="4069080"/>
            <a:ext cx="365760" cy="36576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14" name="Card3Text"/>
          <p:cNvSpPr/>
          <p:nvPr/>
        </p:nvSpPr>
        <p:spPr>
          <a:xfrm>
            <a:off x="914400" y="4069080"/>
            <a:ext cx="3200400" cy="45720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</a:rPr>
              <a:t>Attending Education Fairs</a:t>
            </a:r>
          </a:p>
          <a:p>
            <a:pPr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</a:rPr>
              <a:t>Limited information from crowded, time-constrained events</a:t>
            </a:r>
          </a:p>
        </p:txBody>
      </p:sp>
      <p:sp>
        <p:nvSpPr>
          <p:cNvPr id="105" name="Card6Bg"/>
          <p:cNvSpPr/>
          <p:nvPr/>
        </p:nvSpPr>
        <p:spPr>
          <a:xfrm>
            <a:off x="4846320" y="402336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FFF1F2"/>
          </a:solidFill>
          <a:ln w="12700">
            <a:solidFill>
              <a:srgbClr val="E11D48">
                <a:alpha val="30000"/>
              </a:srgbClr>
            </a:solidFill>
          </a:ln>
        </p:spPr>
      </p:sp>
      <p:sp>
        <p:nvSpPr>
          <p:cNvPr id="15" name="Card6Num"/>
          <p:cNvSpPr/>
          <p:nvPr/>
        </p:nvSpPr>
        <p:spPr>
          <a:xfrm>
            <a:off x="4937760" y="4069080"/>
            <a:ext cx="365760" cy="36576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9" name="Card6Text"/>
          <p:cNvSpPr/>
          <p:nvPr/>
        </p:nvSpPr>
        <p:spPr>
          <a:xfrm>
            <a:off x="5394960" y="4069080"/>
            <a:ext cx="3200400" cy="45720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>
              <a:buNone/>
            </a:pPr>
            <a:r>
              <a:rPr lang="en-US" sz="1300" b="1" dirty="0">
                <a:solidFill>
                  <a:srgbClr val="9F1239"/>
                </a:solidFill>
                <a:latin typeface="Calibri" pitchFamily="34" charset="0"/>
              </a:rPr>
              <a:t>Errors, Inefficiency, Bias &amp; High Costs</a:t>
            </a:r>
          </a:p>
          <a:p>
            <a:pPr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</a:rPr>
              <a:t>Expensive services with hidden bias and economic pressure</a:t>
            </a:r>
          </a:p>
        </p:txBody>
      </p:sp>
      <p:sp>
        <p:nvSpPr>
          <p:cNvPr id="16" name="Footer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EdFind  |  IMIE 2026 1.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6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2"/>
          <p:cNvSpPr/>
          <p:nvPr/>
        </p:nvSpPr>
        <p:spPr>
          <a:xfrm>
            <a:off x="1257300" y="298297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AI-Powered Guide to European Master's Programs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4434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Hasan Cenk Salgam  —  Derin Canözden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4709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IMIE 2026  |  POLIMI GSoM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Picture 9" descr="A logo with a graduation cap and compass  Description automatically generated">
            <a:extLst>
              <a:ext uri="{FF2B5EF4-FFF2-40B4-BE49-F238E27FC236}">
                <a16:creationId xmlns:a16="http://schemas.microsoft.com/office/drawing/2014/main" id="{E3CA3AE5-48F0-3EBF-B114-AC3FE2674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969" y="860653"/>
            <a:ext cx="5162062" cy="2812949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E14A5986-B50A-9B08-70A5-051035681129}"/>
              </a:ext>
            </a:extLst>
          </p:cNvPr>
          <p:cNvSpPr/>
          <p:nvPr/>
        </p:nvSpPr>
        <p:spPr>
          <a:xfrm>
            <a:off x="1257300" y="385648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6B6D4"/>
                </a:solidFill>
                <a:latin typeface="Calibri" pitchFamily="34" charset="0"/>
                <a:cs typeface="Calibri" pitchFamily="34" charset="-120"/>
              </a:rPr>
              <a:t>Let us be your compass in education!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 &amp; Purpose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64008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515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Mission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democratize access to European higher education for Turkish students by replacing fragmented, biased, and expensive advisory services with a single AI-powered platform that delivers personalized, verified, and neutral guidance.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8046720" cy="91440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94560"/>
            <a:ext cx="6400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402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</a:rPr>
              <a:t>Vision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5146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become the go-to education advisory platform for every student applying to master's programs across borders — starting with Turkey-to-Europe, expanding globally.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8046720" cy="105156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29184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3375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Purpose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We exist because students deserve more than fragmented websites, biased consultants, and uncertain advice when making one of the most important decisions of their lives.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EdFind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 helps them navigate international education with clarity, trust, and confidence</a:t>
            </a:r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Cenk </a:t>
            </a:r>
            <a:r>
              <a:rPr lang="en-US" sz="9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EdFind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IMIE 2026 3.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 (</a:t>
            </a:r>
            <a:r>
              <a:rPr lang="en-US" sz="3000" b="1" dirty="0" err="1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Düzenleencek</a:t>
            </a: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374904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7979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/>
              <a:t>EdFind</a:t>
            </a:r>
            <a:r>
              <a:rPr lang="en-US" sz="1200" b="1" dirty="0"/>
              <a:t> is an AI-powered education advisory platform</a:t>
            </a:r>
            <a:r>
              <a:rPr lang="en-US" sz="1200" dirty="0"/>
              <a:t> helping Turkish students discover, compare, and apply to European master’s programs with more clarity and confidence.</a:t>
            </a:r>
          </a:p>
          <a:p>
            <a:endParaRPr lang="en-US" sz="1200" dirty="0"/>
          </a:p>
          <a:p>
            <a:r>
              <a:rPr lang="en-US" sz="1200" dirty="0"/>
              <a:t>Our research validated a clear pain point: </a:t>
            </a:r>
            <a:r>
              <a:rPr lang="en-US" sz="1200" b="1" dirty="0"/>
              <a:t>all 13 interviewees</a:t>
            </a:r>
            <a:r>
              <a:rPr lang="en-US" sz="1200" dirty="0"/>
              <a:t> described the process as fragmented, time-consuming, and unreliable. Students currently depend on scattered university websites, inconsistent AI outputs, WhatsApp groups, and costly consultants — yet still risk missing the right programs.</a:t>
            </a:r>
          </a:p>
          <a:p>
            <a:endParaRPr lang="en-US" sz="1200" dirty="0"/>
          </a:p>
          <a:p>
            <a:r>
              <a:rPr lang="en-US" sz="1200" dirty="0" err="1"/>
              <a:t>EdFind</a:t>
            </a:r>
            <a:r>
              <a:rPr lang="en-US" sz="1200" dirty="0"/>
              <a:t> solves this through </a:t>
            </a:r>
            <a:r>
              <a:rPr lang="en-US" sz="1200" b="1" dirty="0"/>
              <a:t>three integrated layers</a:t>
            </a:r>
            <a:r>
              <a:rPr lang="en-US" sz="1200" dirty="0"/>
              <a:t>: a personalized AI recommendation engine, a country-specific application toolkit, and a verified student community with real reviews, alumni insights, and program-level guidance.</a:t>
            </a:r>
          </a:p>
          <a:p>
            <a:r>
              <a:rPr lang="en-US" sz="1200" dirty="0"/>
              <a:t>The platform follows a </a:t>
            </a:r>
            <a:r>
              <a:rPr lang="en-US" sz="1200" b="1" dirty="0"/>
              <a:t>B2B2C model</a:t>
            </a:r>
            <a:r>
              <a:rPr lang="en-US" sz="1200" dirty="0"/>
              <a:t>, combining student access fees with university-side visibility and recruitment opportunities. Early validation is positive: </a:t>
            </a:r>
            <a:r>
              <a:rPr lang="en-US" sz="1200" b="1" dirty="0"/>
              <a:t>9 out of 13 interviewees preferred full access</a:t>
            </a:r>
            <a:r>
              <a:rPr lang="en-US" sz="1200" dirty="0"/>
              <a:t>, with willingness to pay clustering around </a:t>
            </a:r>
            <a:r>
              <a:rPr lang="en-US" sz="1200" b="1" dirty="0"/>
              <a:t>2,000–5,000 TL</a:t>
            </a:r>
            <a:r>
              <a:rPr lang="en-US" sz="1200" dirty="0"/>
              <a:t>.</a:t>
            </a:r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Cenk </a:t>
            </a:r>
            <a:r>
              <a:rPr lang="en-US" sz="9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EdFind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IMIE 2026 4.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</a:t>
            </a:r>
            <a:r>
              <a:rPr lang="en-US" sz="3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Problemv</a:t>
            </a: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(customer </a:t>
            </a:r>
            <a:r>
              <a:rPr lang="en-US" sz="3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segmentsi</a:t>
            </a: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burden </a:t>
            </a:r>
            <a:r>
              <a:rPr lang="en-US" sz="3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çıkar</a:t>
            </a: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yeni slide a </a:t>
            </a:r>
            <a:r>
              <a:rPr lang="en-US" sz="3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koy</a:t>
            </a: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353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considering education abroad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1673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actively applying to master's programs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seeking personalized guidance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75488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Problems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4754880" y="1371600"/>
            <a:ext cx="3840480" cy="41148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444752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03520" y="1371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research process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4754880" y="1874520"/>
            <a:ext cx="3840480" cy="41148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947672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30352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personalized guidance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4754880" y="2377440"/>
            <a:ext cx="3840480" cy="41148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450592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03520" y="2377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consultant dependency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4754880" y="2880360"/>
            <a:ext cx="3840480" cy="41148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953512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303520" y="2880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comparing universities</a:t>
            </a:r>
            <a:endParaRPr lang="en-US" sz="1200" dirty="0"/>
          </a:p>
        </p:txBody>
      </p:sp>
      <p:sp>
        <p:nvSpPr>
          <p:cNvPr id="24" name="Shape 15"/>
          <p:cNvSpPr/>
          <p:nvPr/>
        </p:nvSpPr>
        <p:spPr>
          <a:xfrm>
            <a:off x="4754880" y="3383280"/>
            <a:ext cx="3840480" cy="41148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456432"/>
            <a:ext cx="274320" cy="27432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303520" y="3383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and scattered information</a:t>
            </a:r>
            <a:endParaRPr lang="en-US" sz="1200" dirty="0"/>
          </a:p>
        </p:txBody>
      </p:sp>
      <p:sp>
        <p:nvSpPr>
          <p:cNvPr id="27" name="Shape 17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18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validated through 13 in-depth interviews with students at different stages of the study abroad journey.</a:t>
            </a:r>
            <a:endParaRPr lang="en-US" sz="1200" dirty="0"/>
          </a:p>
        </p:txBody>
      </p:sp>
      <p:sp>
        <p:nvSpPr>
          <p:cNvPr id="29" name="Text 19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EdFind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IMIE 2026 7.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7" grpId="0" animBg="1"/>
      <p:bldP spid="20" grpId="0" animBg="1"/>
      <p:bldP spid="23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EdFind combines personalized AI guidance, centralized information, and student-driven insights in a single platform.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560320" cy="132588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5819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Matching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personalized best-fit programs faster based on your profile and goals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417320"/>
            <a:ext cx="2560320" cy="132588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5544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69080" y="15819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Comparison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56616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universities more confidently with structured, verified data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417320"/>
            <a:ext cx="2560320" cy="132588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5544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03720" y="15819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Tracking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0080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applications efficiently with country-specific checklists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1965960" y="2926080"/>
            <a:ext cx="2560320" cy="132588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8840" y="306324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651760" y="30906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Hub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2148840" y="3566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all guidance in one place — no more scattered information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800600" y="2926080"/>
            <a:ext cx="2560320" cy="132588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306324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86400" y="30906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Community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983480" y="3566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Learn from .eduverified student experiences and alumni outcomes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EdFind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IMIE 2026 8.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Overview &amp; Sizing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A growing number of Turkish students pursue higher education abroad, yet the process remains fragmented and difficult to navigate.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468880" cy="237744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246888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92024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834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7M+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731520" y="3337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students (Turkey)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according to OECD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691640"/>
            <a:ext cx="2468880" cy="237744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691640"/>
            <a:ext cx="246888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920240"/>
            <a:ext cx="822960" cy="8229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2834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50K+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3474720" y="3337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Turkish students study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abroad </a:t>
            </a:r>
            <a:r>
              <a:rPr lang="en-US" sz="1100" b="1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 (OECD 2026)</a:t>
            </a:r>
            <a:endParaRPr lang="en-US" sz="1100" b="1" i="1" dirty="0"/>
          </a:p>
        </p:txBody>
      </p:sp>
      <p:sp>
        <p:nvSpPr>
          <p:cNvPr id="15" name="Shape 11"/>
          <p:cNvSpPr/>
          <p:nvPr/>
        </p:nvSpPr>
        <p:spPr>
          <a:xfrm>
            <a:off x="6035040" y="1703185"/>
            <a:ext cx="2532380" cy="1124759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35040" y="1702701"/>
            <a:ext cx="2546309" cy="51177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0045" y="1747058"/>
            <a:ext cx="413097" cy="41887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15189" y="2189960"/>
            <a:ext cx="2307244" cy="283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06B6D4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+18%</a:t>
            </a:r>
            <a:endParaRPr lang="en-US">
              <a:latin typeface="Arial Black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6214233" y="2330983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student mobility of Turkey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(2018–2023)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for international education continues to grow globally and in Türkiye.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EdFind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IMIE 2026 5.</a:t>
            </a:r>
            <a:endParaRPr lang="en-US" sz="900" dirty="0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678621CC-FBCD-3E68-6AEC-D708CE379FC8}"/>
              </a:ext>
            </a:extLst>
          </p:cNvPr>
          <p:cNvSpPr/>
          <p:nvPr/>
        </p:nvSpPr>
        <p:spPr>
          <a:xfrm>
            <a:off x="6035039" y="2945736"/>
            <a:ext cx="2532380" cy="1124759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89A83653-72BA-8658-7363-756032F4BE87}"/>
              </a:ext>
            </a:extLst>
          </p:cNvPr>
          <p:cNvSpPr/>
          <p:nvPr/>
        </p:nvSpPr>
        <p:spPr>
          <a:xfrm>
            <a:off x="6247416" y="3455547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>
              <a:solidFill>
                <a:srgbClr val="B0BEC5"/>
              </a:solidFill>
              <a:ea typeface="Calibri"/>
              <a:cs typeface="Calibri"/>
            </a:endParaRPr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4265B44A-B7B3-0737-7F13-7E8C9AE9FB48}"/>
              </a:ext>
            </a:extLst>
          </p:cNvPr>
          <p:cNvSpPr/>
          <p:nvPr/>
        </p:nvSpPr>
        <p:spPr>
          <a:xfrm>
            <a:off x="6035039" y="2945252"/>
            <a:ext cx="2546309" cy="51177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F662809-85B0-85E6-768A-18FEFE12B4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39" y="2987513"/>
            <a:ext cx="2565400" cy="1460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56F66B-FB33-5A25-03CF-A45A91B20690}"/>
              </a:ext>
            </a:extLst>
          </p:cNvPr>
          <p:cNvSpPr txBox="1"/>
          <p:nvPr/>
        </p:nvSpPr>
        <p:spPr>
          <a:xfrm>
            <a:off x="226244" y="329939"/>
            <a:ext cx="2046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Customer segments</a:t>
            </a:r>
          </a:p>
        </p:txBody>
      </p:sp>
    </p:spTree>
    <p:extLst>
      <p:ext uri="{BB962C8B-B14F-4D97-AF65-F5344CB8AC3E}">
        <p14:creationId xmlns:p14="http://schemas.microsoft.com/office/powerpoint/2010/main" val="3565799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Landscape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Turkish study-abroad market is dominated by traditional consulting agencies and generic aggregator platforms.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233172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508760"/>
            <a:ext cx="6766560" cy="2057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840480"/>
            <a:ext cx="8046720" cy="914400"/>
          </a:xfrm>
          <a:prstGeom prst="rect">
            <a:avLst/>
          </a:prstGeom>
          <a:solidFill>
            <a:srgbClr val="CFFAFE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384048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9776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provide information, but personalized guidance still relies heavily on traditional consultants who charge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b="1" i="1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€500–2,000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often push partner schools for commission. No single platform combines AI matching, verified community, and neutral application support.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EdFind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IMIE 2026 6.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Validation (Survey </a:t>
            </a:r>
            <a:r>
              <a:rPr lang="en-US" sz="3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eklenip</a:t>
            </a: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güncellenmeli</a:t>
            </a: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based on 13 interviews with students researching, applying to, or enrolled in international programs.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794760" cy="237744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37947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13/13</a:t>
            </a:r>
            <a:endParaRPr lang="en-US" sz="4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2316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404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research process is fragmented and stressful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3464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8163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Reacted positively to the EdFind concept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4612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2278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community &amp; verified reviews highly valuable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800600" y="1463040"/>
            <a:ext cx="3794760" cy="237744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800600" y="1463040"/>
            <a:ext cx="379476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1"/>
          <p:cNvSpPr/>
          <p:nvPr/>
        </p:nvSpPr>
        <p:spPr>
          <a:xfrm>
            <a:off x="4800600" y="169164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€40–100</a:t>
            </a:r>
            <a:endParaRPr lang="en-US" sz="4800" dirty="0"/>
          </a:p>
        </p:txBody>
      </p:sp>
      <p:sp>
        <p:nvSpPr>
          <p:cNvPr id="17" name="Text 12"/>
          <p:cNvSpPr/>
          <p:nvPr/>
        </p:nvSpPr>
        <p:spPr>
          <a:xfrm>
            <a:off x="4800600" y="23317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pricing sweet spot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983480" y="27889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5–15x cheaper than traditional consultants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983480" y="31089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9/13 chose Full Access over free tier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983480" y="34290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WTP clusters around 2,000–5,000 TL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1371600" y="4069080"/>
            <a:ext cx="6400800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17"/>
          <p:cNvSpPr/>
          <p:nvPr/>
        </p:nvSpPr>
        <p:spPr>
          <a:xfrm>
            <a:off x="1554480" y="40690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process is much more exhausting than it should be."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Ahsen D.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50718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EdFind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IMIE 2026 12.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 Canvas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EdFind / IMIE Pre-Incubation Lab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1645920" cy="38404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685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20824" y="685800"/>
            <a:ext cx="1645920" cy="38404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8" name="Text 6"/>
          <p:cNvSpPr/>
          <p:nvPr/>
        </p:nvSpPr>
        <p:spPr>
          <a:xfrm>
            <a:off x="2020824" y="685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721608" y="685800"/>
            <a:ext cx="1828800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3721608" y="685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605272" y="685800"/>
            <a:ext cx="1645920" cy="38404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5605272" y="685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06056" y="685800"/>
            <a:ext cx="1645920" cy="38404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4" name="Text 12"/>
          <p:cNvSpPr/>
          <p:nvPr/>
        </p:nvSpPr>
        <p:spPr>
          <a:xfrm>
            <a:off x="7306056" y="685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1069848"/>
            <a:ext cx="1645920" cy="18288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115568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universities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institutions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orgs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representatives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AI/LLM providers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communities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020824" y="1069848"/>
            <a:ext cx="1645920" cy="18288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66544" y="1115568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UX dev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engine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curation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moderation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rep mgmt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721608" y="1069848"/>
            <a:ext cx="1828800" cy="18288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67328" y="1115568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recommendations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info in one place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quiz + search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tracker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hub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discovery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 students that lived the process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605272" y="1069848"/>
            <a:ext cx="1645920" cy="18288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50992" y="1115568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onboarding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+ dashboard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peer support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1-on-1 campus rep chat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notifications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306056" y="1069848"/>
            <a:ext cx="1645920" cy="18288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51776" y="1115568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Turkish students → EU master's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Int'l students (long-term)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explorers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Uni subscribers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subscribers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(B2B)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020824" y="2898648"/>
            <a:ext cx="1645920" cy="2743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6" name="Text 24"/>
          <p:cNvSpPr/>
          <p:nvPr/>
        </p:nvSpPr>
        <p:spPr>
          <a:xfrm>
            <a:off x="2020824" y="2898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Resources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020824" y="3172968"/>
            <a:ext cx="1645920" cy="82296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66544" y="321868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database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stack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student reviews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Founder–market fit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team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605272" y="2898648"/>
            <a:ext cx="1645920" cy="2743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0" name="Text 28"/>
          <p:cNvSpPr/>
          <p:nvPr/>
        </p:nvSpPr>
        <p:spPr>
          <a:xfrm>
            <a:off x="5605272" y="2898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605272" y="3172968"/>
            <a:ext cx="1645920" cy="82296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50992" y="321868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partnerships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outreach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notifications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Word-of-mouth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20040" y="2898648"/>
            <a:ext cx="1645920" cy="109728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21608" y="2898648"/>
            <a:ext cx="1828800" cy="109728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06056" y="2898648"/>
            <a:ext cx="1645920" cy="109728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050792"/>
            <a:ext cx="3346704" cy="25603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4050792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0040" y="4306824"/>
            <a:ext cx="3346704" cy="429768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325112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dev &amp; maintenance  •  AI/LLM API  •  Cloud infra  •  Database curation  •  Customer acquisition  •  Operations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721608" y="4050792"/>
            <a:ext cx="5230368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1" name="Text 39"/>
          <p:cNvSpPr/>
          <p:nvPr/>
        </p:nvSpPr>
        <p:spPr>
          <a:xfrm>
            <a:off x="3721608" y="4050792"/>
            <a:ext cx="523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721608" y="4306824"/>
            <a:ext cx="5230368" cy="429768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67328" y="4325112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subscriptions (~€40–100 / 6 mo)  •  B2B partner-university fees  •  Lead-generation fees  •  Affiliate referrals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itle"/>
          <p:cNvSpPr/>
          <p:nvPr/>
        </p:nvSpPr>
        <p:spPr>
          <a:xfrm>
            <a:off x="548640" y="1143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 — B2B2C (</a:t>
            </a:r>
            <a:r>
              <a:rPr lang="en-US" sz="2400" b="1" dirty="0" err="1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beğendiler</a:t>
            </a: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ama </a:t>
            </a:r>
            <a:r>
              <a:rPr lang="en-US" sz="2400" b="1" dirty="0" err="1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güncellenecek</a:t>
            </a: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)</a:t>
            </a:r>
            <a:endParaRPr lang="en-US" sz="2400" dirty="0"/>
          </a:p>
        </p:txBody>
      </p:sp>
      <p:sp>
        <p:nvSpPr>
          <p:cNvPr id="10" name="StudentHeader"/>
          <p:cNvSpPr/>
          <p:nvPr/>
        </p:nvSpPr>
        <p:spPr>
          <a:xfrm>
            <a:off x="228600" y="502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</a:rPr>
              <a:t>STUDENT</a:t>
            </a:r>
          </a:p>
        </p:txBody>
      </p:sp>
      <p:sp>
        <p:nvSpPr>
          <p:cNvPr id="11" name="PlatformHeader"/>
          <p:cNvSpPr/>
          <p:nvPr/>
        </p:nvSpPr>
        <p:spPr>
          <a:xfrm>
            <a:off x="3383280" y="502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</a:rPr>
              <a:t>PLATFORM</a:t>
            </a:r>
          </a:p>
        </p:txBody>
      </p:sp>
      <p:sp>
        <p:nvSpPr>
          <p:cNvPr id="12" name="UniversityHeader"/>
          <p:cNvSpPr/>
          <p:nvPr/>
        </p:nvSpPr>
        <p:spPr>
          <a:xfrm>
            <a:off x="6538593" y="502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</a:rPr>
              <a:t>UNIVERSITY</a:t>
            </a:r>
          </a:p>
        </p:txBody>
      </p:sp>
      <p:sp>
        <p:nvSpPr>
          <p:cNvPr id="20" name="Pkg1Label"/>
          <p:cNvSpPr/>
          <p:nvPr/>
        </p:nvSpPr>
        <p:spPr>
          <a:xfrm>
            <a:off x="91440" y="69494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</a:rPr>
              <a:t>Package 1</a:t>
            </a:r>
          </a:p>
        </p:txBody>
      </p:sp>
      <p:sp>
        <p:nvSpPr>
          <p:cNvPr id="21" name="Pkg1Box"/>
          <p:cNvSpPr/>
          <p:nvPr/>
        </p:nvSpPr>
        <p:spPr>
          <a:xfrm>
            <a:off x="228600" y="868680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 w="12700">
            <a:solidFill>
              <a:srgbClr val="0E7490"/>
            </a:solidFill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Free access</a:t>
            </a:r>
          </a:p>
          <a:p>
            <a:pPr algn="ctr">
              <a:buNone/>
            </a:pPr>
            <a:r>
              <a:rPr lang="en-US" sz="900" dirty="0">
                <a:solidFill>
                  <a:srgbClr val="E0F7FA"/>
                </a:solidFill>
                <a:latin typeface="Calibri" pitchFamily="34" charset="0"/>
              </a:rPr>
              <a:t>University sponsored</a:t>
            </a:r>
          </a:p>
          <a:p>
            <a:pPr algn="ctr">
              <a:buNone/>
            </a:pPr>
            <a:r>
              <a:rPr lang="en-US" sz="900" dirty="0">
                <a:solidFill>
                  <a:srgbClr val="E0F7FA"/>
                </a:solidFill>
                <a:latin typeface="Calibri" pitchFamily="34" charset="0"/>
              </a:rPr>
              <a:t>Partner pool only</a:t>
            </a:r>
          </a:p>
          <a:p>
            <a:pPr algn="ctr">
              <a:buNone/>
            </a:pPr>
            <a:r>
              <a:rPr lang="en-US" sz="900" dirty="0">
                <a:solidFill>
                  <a:srgbClr val="E0F7FA"/>
                </a:solidFill>
                <a:latin typeface="Calibri" pitchFamily="34" charset="0"/>
              </a:rPr>
              <a:t>Application tools included</a:t>
            </a:r>
          </a:p>
        </p:txBody>
      </p:sp>
      <p:sp>
        <p:nvSpPr>
          <p:cNvPr id="22" name="Pkg2Label"/>
          <p:cNvSpPr/>
          <p:nvPr/>
        </p:nvSpPr>
        <p:spPr>
          <a:xfrm>
            <a:off x="111034" y="1928731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</a:rPr>
              <a:t>Package 2</a:t>
            </a:r>
          </a:p>
        </p:txBody>
      </p:sp>
      <p:sp>
        <p:nvSpPr>
          <p:cNvPr id="23" name="Pkg2Box"/>
          <p:cNvSpPr/>
          <p:nvPr/>
        </p:nvSpPr>
        <p:spPr>
          <a:xfrm>
            <a:off x="228600" y="2102484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155E75"/>
          </a:solidFill>
          <a:ln w="12700">
            <a:solidFill>
              <a:srgbClr val="0E7490"/>
            </a:solidFill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Paid access</a:t>
            </a:r>
          </a:p>
          <a:p>
            <a:pPr algn="ctr">
              <a:buNone/>
            </a:pPr>
            <a:r>
              <a:rPr lang="en-US" sz="900" dirty="0">
                <a:solidFill>
                  <a:srgbClr val="E0F7FA"/>
                </a:solidFill>
                <a:latin typeface="Calibri" pitchFamily="34" charset="0"/>
              </a:rPr>
              <a:t>One-time payment or 6-month sub</a:t>
            </a:r>
          </a:p>
          <a:p>
            <a:pPr algn="ctr">
              <a:buNone/>
            </a:pPr>
            <a:r>
              <a:rPr lang="en-US" sz="900" dirty="0">
                <a:solidFill>
                  <a:srgbClr val="E0F7FA"/>
                </a:solidFill>
                <a:latin typeface="Calibri" pitchFamily="34" charset="0"/>
              </a:rPr>
              <a:t>All universities</a:t>
            </a:r>
          </a:p>
          <a:p>
            <a:pPr algn="ctr">
              <a:buNone/>
            </a:pPr>
            <a:r>
              <a:rPr lang="en-US" sz="900" dirty="0">
                <a:solidFill>
                  <a:srgbClr val="E0F7FA"/>
                </a:solidFill>
                <a:latin typeface="Calibri" pitchFamily="34" charset="0"/>
              </a:rPr>
              <a:t>Full toolkit</a:t>
            </a:r>
          </a:p>
        </p:txBody>
      </p:sp>
      <p:sp>
        <p:nvSpPr>
          <p:cNvPr id="30" name="PlatformBox"/>
          <p:cNvSpPr/>
          <p:nvPr/>
        </p:nvSpPr>
        <p:spPr>
          <a:xfrm>
            <a:off x="3108960" y="868680"/>
            <a:ext cx="2926080" cy="2331084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0891B2"/>
            </a:solidFill>
          </a:ln>
        </p:spPr>
        <p:txBody>
          <a:bodyPr wrap="square" lIns="137160" tIns="91440" rIns="137160" bIns="91440" rtlCol="0" anchor="t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</a:rPr>
              <a:t>EdFind</a:t>
            </a:r>
          </a:p>
          <a:p>
            <a:pPr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</a:rPr>
              <a:t>AI recommendation engine</a:t>
            </a:r>
          </a:p>
          <a:p>
            <a:pPr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</a:rPr>
              <a:t>Application toolkit</a:t>
            </a:r>
          </a:p>
          <a:p>
            <a:pPr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</a:rPr>
              <a:t>Verified community</a:t>
            </a:r>
          </a:p>
          <a:p>
            <a:pPr algn="ctr">
              <a:buNone/>
            </a:pPr>
            <a:endParaRPr lang="en-US" sz="600" dirty="0"/>
          </a:p>
          <a:p>
            <a:pPr algn="ct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</a:rPr>
              <a:t>All universities</a:t>
            </a:r>
          </a:p>
          <a:p>
            <a:pPr algn="ct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</a:rPr>
              <a:t>No hidden bias</a:t>
            </a:r>
          </a:p>
          <a:p>
            <a:pPr algn="ct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</a:rPr>
              <a:t>Honest comparison</a:t>
            </a:r>
          </a:p>
        </p:txBody>
      </p:sp>
      <p:sp>
        <p:nvSpPr>
          <p:cNvPr id="31" name="ConnLabel1"/>
          <p:cNvSpPr/>
          <p:nvPr/>
        </p:nvSpPr>
        <p:spPr>
          <a:xfrm>
            <a:off x="2651760" y="12344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</a:rPr>
              <a:t>→</a:t>
            </a:r>
          </a:p>
        </p:txBody>
      </p:sp>
      <p:sp>
        <p:nvSpPr>
          <p:cNvPr id="32" name="ConnLabel2"/>
          <p:cNvSpPr/>
          <p:nvPr/>
        </p:nvSpPr>
        <p:spPr>
          <a:xfrm>
            <a:off x="2651760" y="2468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</a:rPr>
              <a:t>→</a:t>
            </a:r>
          </a:p>
        </p:txBody>
      </p:sp>
      <p:sp>
        <p:nvSpPr>
          <p:cNvPr id="33" name="ConnLabel3"/>
          <p:cNvSpPr/>
          <p:nvPr/>
        </p:nvSpPr>
        <p:spPr>
          <a:xfrm>
            <a:off x="6035040" y="12344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</a:rPr>
              <a:t>fees →</a:t>
            </a:r>
          </a:p>
        </p:txBody>
      </p:sp>
      <p:sp>
        <p:nvSpPr>
          <p:cNvPr id="34" name="ConnLabel4"/>
          <p:cNvSpPr/>
          <p:nvPr/>
        </p:nvSpPr>
        <p:spPr>
          <a:xfrm>
            <a:off x="6035040" y="2468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</a:rPr>
              <a:t>→</a:t>
            </a:r>
          </a:p>
        </p:txBody>
      </p:sp>
      <p:sp>
        <p:nvSpPr>
          <p:cNvPr id="40" name="PartnerUniBox"/>
          <p:cNvSpPr/>
          <p:nvPr/>
        </p:nvSpPr>
        <p:spPr>
          <a:xfrm>
            <a:off x="6538593" y="868680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 w="12700">
            <a:solidFill>
              <a:srgbClr val="0E7490"/>
            </a:solidFill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Partner university</a:t>
            </a:r>
          </a:p>
          <a:p>
            <a:pPr algn="ctr">
              <a:buNone/>
            </a:pPr>
            <a:r>
              <a:rPr lang="en-US" sz="900" dirty="0">
                <a:solidFill>
                  <a:srgbClr val="E0F7FA"/>
                </a:solidFill>
                <a:latin typeface="Calibri" pitchFamily="34" charset="0"/>
              </a:rPr>
              <a:t>Qualified student pool</a:t>
            </a:r>
          </a:p>
          <a:p>
            <a:pPr algn="ctr">
              <a:buNone/>
            </a:pPr>
            <a:r>
              <a:rPr lang="en-US" sz="900" dirty="0">
                <a:solidFill>
                  <a:srgbClr val="E0F7FA"/>
                </a:solidFill>
                <a:latin typeface="Calibri" pitchFamily="34" charset="0"/>
              </a:rPr>
              <a:t>Application page &amp; tools</a:t>
            </a:r>
          </a:p>
          <a:p>
            <a:pPr algn="ctr">
              <a:buNone/>
            </a:pPr>
            <a:r>
              <a:rPr lang="en-US" sz="900" dirty="0">
                <a:solidFill>
                  <a:srgbClr val="E0F7FA"/>
                </a:solidFill>
                <a:latin typeface="Calibri" pitchFamily="34" charset="0"/>
              </a:rPr>
              <a:t>Visibility + analytics</a:t>
            </a:r>
          </a:p>
        </p:txBody>
      </p:sp>
      <p:sp>
        <p:nvSpPr>
          <p:cNvPr id="41" name="AllUniBox"/>
          <p:cNvSpPr/>
          <p:nvPr/>
        </p:nvSpPr>
        <p:spPr>
          <a:xfrm>
            <a:off x="6538593" y="2102484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155E75"/>
          </a:solidFill>
          <a:ln w="12700">
            <a:solidFill>
              <a:srgbClr val="0E7490"/>
            </a:solidFill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All universities</a:t>
            </a:r>
          </a:p>
          <a:p>
            <a:pPr algn="ctr">
              <a:buNone/>
            </a:pPr>
            <a:r>
              <a:rPr lang="en-US" sz="900" dirty="0">
                <a:solidFill>
                  <a:srgbClr val="E0F7FA"/>
                </a:solidFill>
                <a:latin typeface="Calibri" pitchFamily="34" charset="0"/>
              </a:rPr>
              <a:t>No partnership required</a:t>
            </a:r>
          </a:p>
          <a:p>
            <a:pPr algn="ctr">
              <a:buNone/>
            </a:pPr>
            <a:r>
              <a:rPr lang="en-US" sz="900" dirty="0">
                <a:solidFill>
                  <a:srgbClr val="E0F7FA"/>
                </a:solidFill>
                <a:latin typeface="Calibri" pitchFamily="34" charset="0"/>
              </a:rPr>
              <a:t>Listed in unbiased ranking</a:t>
            </a:r>
          </a:p>
          <a:p>
            <a:pPr algn="ctr">
              <a:buNone/>
            </a:pPr>
            <a:r>
              <a:rPr lang="en-US" sz="900" dirty="0">
                <a:solidFill>
                  <a:srgbClr val="E0F7FA"/>
                </a:solidFill>
                <a:latin typeface="Calibri" pitchFamily="34" charset="0"/>
              </a:rPr>
              <a:t>Students reach directly</a:t>
            </a:r>
          </a:p>
        </p:txBody>
      </p:sp>
      <p:sp>
        <p:nvSpPr>
          <p:cNvPr id="50" name="RevenueHeader"/>
          <p:cNvSpPr/>
          <p:nvPr/>
        </p:nvSpPr>
        <p:spPr>
          <a:xfrm>
            <a:off x="228600" y="34747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</a:rPr>
              <a:t>REVENUE STREAMS</a:t>
            </a:r>
          </a:p>
        </p:txBody>
      </p:sp>
      <p:sp>
        <p:nvSpPr>
          <p:cNvPr id="51" name="Rev1Box"/>
          <p:cNvSpPr/>
          <p:nvPr/>
        </p:nvSpPr>
        <p:spPr>
          <a:xfrm>
            <a:off x="228600" y="379476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 w="12700">
            <a:solidFill>
              <a:srgbClr val="0891B2"/>
            </a:solidFill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</a:rPr>
              <a:t>Partner uni fees (B2B)</a:t>
            </a:r>
          </a:p>
          <a:p>
            <a:pPr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Funds the free tier</a:t>
            </a:r>
          </a:p>
        </p:txBody>
      </p:sp>
      <p:sp>
        <p:nvSpPr>
          <p:cNvPr id="52" name="Rev2Box"/>
          <p:cNvSpPr/>
          <p:nvPr/>
        </p:nvSpPr>
        <p:spPr>
          <a:xfrm>
            <a:off x="3200400" y="379476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 w="12700">
            <a:solidFill>
              <a:srgbClr val="0891B2"/>
            </a:solidFill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</a:rPr>
              <a:t>Full access (B2C)</a:t>
            </a:r>
          </a:p>
          <a:p>
            <a:pPr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Primary revenue</a:t>
            </a:r>
          </a:p>
        </p:txBody>
      </p:sp>
      <p:sp>
        <p:nvSpPr>
          <p:cNvPr id="53" name="Rev3Box"/>
          <p:cNvSpPr/>
          <p:nvPr/>
        </p:nvSpPr>
        <p:spPr>
          <a:xfrm>
            <a:off x="6172200" y="379476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 w="12700">
            <a:solidFill>
              <a:srgbClr val="0891B2"/>
            </a:solidFill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</a:rPr>
              <a:t>Affiliate (long-term)</a:t>
            </a:r>
          </a:p>
          <a:p>
            <a:pPr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Scholarships, visa, housing</a:t>
            </a:r>
          </a:p>
        </p:txBody>
      </p:sp>
      <p:sp>
        <p:nvSpPr>
          <p:cNvPr id="70" name="Footer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EdFind  |  IMIE 2026 11.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Go-to-Market Strategy (</a:t>
            </a:r>
            <a:r>
              <a:rPr lang="en-US" sz="3000" b="1" dirty="0" err="1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kalsın</a:t>
            </a: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ama es </a:t>
            </a:r>
            <a:r>
              <a:rPr lang="en-US" sz="3000" b="1" dirty="0" err="1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geçilebilri</a:t>
            </a: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Logic: Start narrow, build trust, then scale across Europe.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73152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64008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5544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55448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0116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 Market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011680" y="17830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Turkish students applying to master’s programs in Europe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286000"/>
            <a:ext cx="64008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1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242316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1168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Channels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2011680" y="26517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communities, university clubs, WhatsApp/Telegram groups, LinkedIn, SEO guides, campus ambassadors, Social Media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3154680"/>
            <a:ext cx="8046720" cy="73152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48640" y="3154680"/>
            <a:ext cx="64008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Shape 17"/>
          <p:cNvSpPr/>
          <p:nvPr/>
        </p:nvSpPr>
        <p:spPr>
          <a:xfrm>
            <a:off x="822960" y="32918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18"/>
          <p:cNvSpPr/>
          <p:nvPr/>
        </p:nvSpPr>
        <p:spPr>
          <a:xfrm>
            <a:off x="8229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329184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01168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Strategy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2011680" y="35204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guides build trust; AI matching, tracking, and verified insights drive paid access.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8640" y="4023360"/>
            <a:ext cx="64008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Shape 23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9" name="Text 24"/>
          <p:cNvSpPr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040" y="4160520"/>
            <a:ext cx="411480" cy="4114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201168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Roadmap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2011680" y="43891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Italy-focused MVP, expand to key European destinations, scale via university partnerships.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EdFind  |  IMIE 2026 13.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Product Demo</a:t>
            </a:r>
            <a:endParaRPr lang="en-US" sz="3000" dirty="0"/>
          </a:p>
        </p:txBody>
      </p:sp>
      <p:sp>
        <p:nvSpPr>
          <p:cNvPr id="5" name="Shape 2">
            <a:hlinkClick r:id="rId3"/>
          </p:cNvPr>
          <p:cNvSpPr/>
          <p:nvPr/>
        </p:nvSpPr>
        <p:spPr>
          <a:xfrm>
            <a:off x="2560320" y="3291840"/>
            <a:ext cx="402336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3">
            <a:hlinkClick r:id="rId3"/>
          </p:cNvPr>
          <p:cNvSpPr/>
          <p:nvPr/>
        </p:nvSpPr>
        <p:spPr>
          <a:xfrm>
            <a:off x="2560320" y="32918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Launch EdFind  →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560320" y="4114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ed-find.vercel.app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Cenk </a:t>
            </a:r>
            <a:r>
              <a:rPr lang="en-US" sz="9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EdFind</a:t>
            </a: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IMIE 2026 9.</a:t>
            </a:r>
            <a:endParaRPr lang="en-US" sz="900" dirty="0"/>
          </a:p>
        </p:txBody>
      </p:sp>
      <p:sp>
        <p:nvSpPr>
          <p:cNvPr id="10" name="AutoShape 2" descr="Üretilen görsel: Yön gösterici ve mezuniyet kepi">
            <a:extLst>
              <a:ext uri="{FF2B5EF4-FFF2-40B4-BE49-F238E27FC236}">
                <a16:creationId xmlns:a16="http://schemas.microsoft.com/office/drawing/2014/main" id="{DD9F63C6-59A6-57D5-3C7A-6606340004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TR"/>
          </a:p>
        </p:txBody>
      </p:sp>
      <p:pic>
        <p:nvPicPr>
          <p:cNvPr id="19" name="Picture 18" descr="A blue compass with a graduation cap and tassel  Description automatically generated">
            <a:extLst>
              <a:ext uri="{FF2B5EF4-FFF2-40B4-BE49-F238E27FC236}">
                <a16:creationId xmlns:a16="http://schemas.microsoft.com/office/drawing/2014/main" id="{BE762B19-E4B4-1803-4A09-72E92E002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529" y="75057"/>
            <a:ext cx="2419350" cy="24193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651760" cy="384048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051560"/>
            <a:ext cx="1645920" cy="164592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Hasan Cenk Şalgam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Co-Founder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14400" y="3401568"/>
            <a:ext cx="173736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349300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Industrial Engineering + Finance Minor</a:t>
            </a:r>
            <a:endParaRPr lang="en-US" sz="9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Innovation &amp; Entrepreneurship, POLIMI GSoM</a:t>
            </a:r>
            <a:endParaRPr lang="en-US" sz="9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Beko, Sisecam — Digital Process Excellence and Business Transformation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337560" y="868680"/>
            <a:ext cx="2651760" cy="384048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051560"/>
            <a:ext cx="1645920" cy="1645920"/>
          </a:xfrm>
          <a:prstGeom prst="ellipse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Canözden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7472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 &amp; Co-Founder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794760" y="3401568"/>
            <a:ext cx="173736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0" y="349300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International Trade &amp; Business</a:t>
            </a:r>
            <a:endParaRPr lang="en-US" sz="9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Innovation &amp; Entrepreneurship, POLIMI GSoM</a:t>
            </a:r>
            <a:endParaRPr lang="en-US" sz="9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audit 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217920" y="868680"/>
            <a:ext cx="2651760" cy="3840480"/>
          </a:xfrm>
          <a:prstGeom prst="rect">
            <a:avLst/>
          </a:prstGeom>
          <a:solidFill>
            <a:srgbClr val="1A27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1051560"/>
            <a:ext cx="1645920" cy="1645920"/>
          </a:xfrm>
          <a:prstGeom prst="ellipse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Erdoğan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Mert Oruntak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5508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&amp; Co-Founder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675120" y="3401568"/>
            <a:ext cx="173736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355080" y="349300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Economics, Bogazici University</a:t>
            </a:r>
            <a:endParaRPr lang="en-US" sz="9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Research Analyst — data science, Python, R</a:t>
            </a:r>
            <a:endParaRPr lang="en-US" sz="9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media optimization — billions of views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EdFind  |  IMIE 2026 14.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71600" y="4114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Hasan Cenk Salgam  —  Derin Canözden</a:t>
            </a:r>
            <a:endParaRPr lang="en-US" sz="1300" dirty="0"/>
          </a:p>
        </p:txBody>
      </p:sp>
      <p:sp>
        <p:nvSpPr>
          <p:cNvPr id="7" name="Text 4">
            <a:hlinkClick r:id="rId3"/>
          </p:cNvPr>
          <p:cNvSpPr/>
          <p:nvPr/>
        </p:nvSpPr>
        <p:spPr>
          <a:xfrm>
            <a:off x="1371600" y="4389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ed-find.vercel.app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EdFind  |  IMIE 2026 15.</a:t>
            </a:r>
            <a:endParaRPr lang="en-US" sz="900" dirty="0"/>
          </a:p>
        </p:txBody>
      </p:sp>
      <p:pic>
        <p:nvPicPr>
          <p:cNvPr id="3" name="Picture 2" descr="A blue compass with a graduation cap and tassel  Description automatically generated">
            <a:extLst>
              <a:ext uri="{FF2B5EF4-FFF2-40B4-BE49-F238E27FC236}">
                <a16:creationId xmlns:a16="http://schemas.microsoft.com/office/drawing/2014/main" id="{2E711E1B-E75A-2C1A-0B17-373E4BC58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325" y="237744"/>
            <a:ext cx="2419350" cy="2419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</TotalTime>
  <Words>1319</Words>
  <Application>Microsoft Macintosh PowerPoint</Application>
  <PresentationFormat>On-screen Show (16:9)</PresentationFormat>
  <Paragraphs>250</Paragraphs>
  <Slides>16</Slides>
  <Notes>14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EdFind — Midterm Presentation</dc:title>
  <dc:subject>PptxGenJS Presentation</dc:subject>
  <dc:creator>EdFind Team</dc:creator>
  <cp:lastModifiedBy>HASAN CENK SALGAM</cp:lastModifiedBy>
  <cp:revision>10</cp:revision>
  <dcterms:created xsi:type="dcterms:W3CDTF">2026-05-24T13:55:42Z</dcterms:created>
  <dcterms:modified xsi:type="dcterms:W3CDTF">2026-06-11T13:29:36Z</dcterms:modified>
</cp:coreProperties>
</file>